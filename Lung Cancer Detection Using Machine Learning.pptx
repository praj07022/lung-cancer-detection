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A65D09F-8C74-4A6F-B7C4-A0B06BF6E1C6}" type="datetimeFigureOut">
              <a:rPr lang="en-US" smtClean="0"/>
              <a:t>20-Jul-26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466AB85-704D-46F6-8F5F-E8A7B56C715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ho.int/" TargetMode="External"/><Relationship Id="rId5" Type="http://schemas.openxmlformats.org/officeDocument/2006/relationships/hyperlink" Target="https://archive.ics.uci.edu/" TargetMode="External"/><Relationship Id="rId4" Type="http://schemas.openxmlformats.org/officeDocument/2006/relationships/hyperlink" Target="https://www.kaggle.com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829761"/>
          </a:xfrm>
        </p:spPr>
        <p:txBody>
          <a:bodyPr/>
          <a:lstStyle/>
          <a:p>
            <a:pPr algn="l"/>
            <a:r>
              <a:rPr lang="en-US" dirty="0" smtClean="0"/>
              <a:t>Lung Cancer Detection Using 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7772400" cy="1199704"/>
          </a:xfrm>
        </p:spPr>
        <p:txBody>
          <a:bodyPr/>
          <a:lstStyle/>
          <a:p>
            <a:pPr algn="l"/>
            <a:r>
              <a:rPr lang="en-US" sz="2000" dirty="0" smtClean="0"/>
              <a:t>Presented by: </a:t>
            </a:r>
            <a:r>
              <a:rPr lang="en-US" sz="2000" dirty="0" err="1" smtClean="0"/>
              <a:t>Himanshu</a:t>
            </a:r>
            <a:r>
              <a:rPr lang="en-US" sz="2000" dirty="0" smtClean="0"/>
              <a:t> Nigam</a:t>
            </a:r>
            <a:endParaRPr lang="en-US" sz="2000" dirty="0" smtClean="0"/>
          </a:p>
          <a:p>
            <a:pPr algn="l"/>
            <a:r>
              <a:rPr lang="en-US" sz="2000" dirty="0" smtClean="0"/>
              <a:t>Batch: 4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11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Lung cancer is one of the leading causes of cancer-related deaths worldwide. </a:t>
            </a:r>
          </a:p>
          <a:p>
            <a:r>
              <a:rPr lang="en-US" dirty="0"/>
              <a:t>Early detection significantly improves survival rates. </a:t>
            </a:r>
          </a:p>
          <a:p>
            <a:r>
              <a:rPr lang="en-US" dirty="0"/>
              <a:t>Machine Learning (ML) helps detect lung cancer quickly and accurately by analyzing patient data and medical images. 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5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the role of Machine Learning in lung cancer detection. </a:t>
            </a:r>
            <a:endParaRPr lang="en-US" dirty="0" smtClean="0"/>
          </a:p>
          <a:p>
            <a:r>
              <a:rPr lang="en-US" dirty="0" smtClean="0"/>
              <a:t>Learn </a:t>
            </a:r>
            <a:r>
              <a:rPr lang="en-US" dirty="0"/>
              <a:t>the workflow of an ML project. </a:t>
            </a:r>
            <a:endParaRPr lang="en-US" dirty="0" smtClean="0"/>
          </a:p>
          <a:p>
            <a:r>
              <a:rPr lang="en-US" dirty="0" smtClean="0"/>
              <a:t>Implement </a:t>
            </a:r>
            <a:r>
              <a:rPr lang="en-US" dirty="0"/>
              <a:t>a lung cancer detection model using Python. </a:t>
            </a:r>
            <a:endParaRPr lang="en-US" dirty="0" smtClean="0"/>
          </a:p>
          <a:p>
            <a:r>
              <a:rPr lang="en-US" dirty="0" smtClean="0"/>
              <a:t>Evaluate </a:t>
            </a:r>
            <a:r>
              <a:rPr lang="en-US" dirty="0"/>
              <a:t>the model's performance.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8410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Machine Learning is a branch of Artificial Intelligence that enables computers to learn patterns from data without being explicitly programmed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pPr marL="109728" indent="0">
              <a:buNone/>
            </a:pPr>
            <a:r>
              <a:rPr lang="en-US" sz="2000" b="1" dirty="0"/>
              <a:t>Types of ML:</a:t>
            </a:r>
          </a:p>
          <a:p>
            <a:r>
              <a:rPr lang="en-US" sz="2000" dirty="0"/>
              <a:t>Supervised Learning </a:t>
            </a:r>
          </a:p>
          <a:p>
            <a:r>
              <a:rPr lang="en-US" sz="2000" dirty="0"/>
              <a:t>Unsupervised Learning </a:t>
            </a:r>
          </a:p>
          <a:p>
            <a:r>
              <a:rPr lang="en-US" sz="2000" dirty="0"/>
              <a:t>Reinforcement Learning </a:t>
            </a:r>
          </a:p>
          <a:p>
            <a:pPr marL="109728" indent="0">
              <a:buNone/>
            </a:pPr>
            <a:endParaRPr lang="en-US" sz="2000" dirty="0" smtClean="0"/>
          </a:p>
          <a:p>
            <a:pPr marL="109728" indent="0">
              <a:buNone/>
            </a:pPr>
            <a:r>
              <a:rPr lang="en-US" sz="2000" dirty="0" smtClean="0"/>
              <a:t>For </a:t>
            </a:r>
            <a:r>
              <a:rPr lang="en-US" sz="2000" dirty="0"/>
              <a:t>lung cancer detection, </a:t>
            </a:r>
            <a:r>
              <a:rPr lang="en-US" sz="2000" b="1" dirty="0"/>
              <a:t>Supervised Learning</a:t>
            </a:r>
            <a:r>
              <a:rPr lang="en-US" sz="2000" dirty="0"/>
              <a:t> is commonly used.</a:t>
            </a:r>
          </a:p>
          <a:p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28804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09728" indent="0">
              <a:buNone/>
            </a:pPr>
            <a:r>
              <a:rPr lang="en-US" dirty="0"/>
              <a:t>Common datasets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sz="2100" dirty="0"/>
              <a:t>Lung Cancer Dataset (UCI Repository) </a:t>
            </a:r>
          </a:p>
          <a:p>
            <a:r>
              <a:rPr lang="en-US" sz="2100" dirty="0" err="1"/>
              <a:t>Kaggle</a:t>
            </a:r>
            <a:r>
              <a:rPr lang="en-US" sz="2100" dirty="0"/>
              <a:t> Lung Cancer Dataset </a:t>
            </a:r>
          </a:p>
          <a:p>
            <a:r>
              <a:rPr lang="en-US" sz="2100" dirty="0"/>
              <a:t>CT Scan Image Dataset (LIDC-IDRI) </a:t>
            </a:r>
          </a:p>
          <a:p>
            <a:pPr marL="109728" indent="0">
              <a:buNone/>
            </a:pPr>
            <a:endParaRPr lang="en-US" b="1" dirty="0" smtClean="0"/>
          </a:p>
          <a:p>
            <a:pPr marL="109728" indent="0">
              <a:buNone/>
            </a:pPr>
            <a:r>
              <a:rPr lang="en-US" b="1" dirty="0" smtClean="0"/>
              <a:t>Features</a:t>
            </a:r>
            <a:endParaRPr lang="en-US" b="1" dirty="0"/>
          </a:p>
          <a:p>
            <a:r>
              <a:rPr lang="en-US" sz="2300" dirty="0"/>
              <a:t>Age </a:t>
            </a:r>
          </a:p>
          <a:p>
            <a:r>
              <a:rPr lang="en-US" sz="2300" dirty="0"/>
              <a:t>Smoking habit </a:t>
            </a:r>
          </a:p>
          <a:p>
            <a:r>
              <a:rPr lang="en-US" sz="2300" dirty="0"/>
              <a:t>Yellow fingers </a:t>
            </a:r>
          </a:p>
          <a:p>
            <a:r>
              <a:rPr lang="en-US" sz="2300" dirty="0"/>
              <a:t>Anxiety </a:t>
            </a:r>
          </a:p>
          <a:p>
            <a:r>
              <a:rPr lang="en-US" sz="2300" dirty="0"/>
              <a:t>Chronic disease </a:t>
            </a:r>
          </a:p>
          <a:p>
            <a:r>
              <a:rPr lang="en-US" sz="2300" dirty="0"/>
              <a:t>Wheezing </a:t>
            </a:r>
          </a:p>
          <a:p>
            <a:r>
              <a:rPr lang="en-US" sz="2300" dirty="0"/>
              <a:t>Chest pain </a:t>
            </a:r>
          </a:p>
          <a:p>
            <a:r>
              <a:rPr lang="en-US" sz="2300" dirty="0"/>
              <a:t>Fatigue </a:t>
            </a:r>
          </a:p>
          <a:p>
            <a:r>
              <a:rPr lang="en-US" sz="2300" dirty="0"/>
              <a:t>Target: Lung Cancer (Yes/No)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29401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828800"/>
            <a:ext cx="8229600" cy="4525963"/>
          </a:xfrm>
        </p:spPr>
        <p:txBody>
          <a:bodyPr/>
          <a:lstStyle/>
          <a:p>
            <a:r>
              <a:rPr lang="en-US" dirty="0"/>
              <a:t>Data Collection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Preprocessing Feature </a:t>
            </a:r>
            <a:r>
              <a:rPr lang="en-US" dirty="0" smtClean="0"/>
              <a:t>Selection</a:t>
            </a:r>
          </a:p>
          <a:p>
            <a:r>
              <a:rPr lang="en-US" dirty="0" smtClean="0"/>
              <a:t>Train-Test </a:t>
            </a:r>
            <a:r>
              <a:rPr lang="en-US" dirty="0"/>
              <a:t>Split </a:t>
            </a:r>
            <a:endParaRPr lang="en-US" dirty="0" smtClean="0"/>
          </a:p>
          <a:p>
            <a:r>
              <a:rPr lang="en-US" dirty="0" smtClean="0"/>
              <a:t>Model </a:t>
            </a:r>
            <a:r>
              <a:rPr lang="en-US" dirty="0"/>
              <a:t>Training </a:t>
            </a:r>
            <a:endParaRPr lang="en-US" dirty="0" smtClean="0"/>
          </a:p>
          <a:p>
            <a:r>
              <a:rPr lang="en-US" dirty="0" smtClean="0"/>
              <a:t>Prediction</a:t>
            </a:r>
          </a:p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Machine Learning Workflow</a:t>
            </a:r>
          </a:p>
        </p:txBody>
      </p:sp>
    </p:spTree>
    <p:extLst>
      <p:ext uri="{BB962C8B-B14F-4D97-AF65-F5344CB8AC3E}">
        <p14:creationId xmlns:p14="http://schemas.microsoft.com/office/powerpoint/2010/main" val="358000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52600"/>
            <a:ext cx="7772400" cy="2971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Libraries</a:t>
            </a:r>
          </a:p>
        </p:txBody>
      </p:sp>
    </p:spTree>
    <p:extLst>
      <p:ext uri="{BB962C8B-B14F-4D97-AF65-F5344CB8AC3E}">
        <p14:creationId xmlns:p14="http://schemas.microsoft.com/office/powerpoint/2010/main" val="185337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7467600" cy="3733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236951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52600"/>
            <a:ext cx="4734586" cy="159089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4006334"/>
            <a:ext cx="403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Training Data = 80%</a:t>
            </a:r>
          </a:p>
          <a:p>
            <a:r>
              <a:rPr lang="en-US" dirty="0" smtClean="0"/>
              <a:t>Testing Data = 20%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44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4000"/>
            <a:ext cx="4114800" cy="9144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Training</a:t>
            </a:r>
            <a:br>
              <a:rPr lang="en-US" dirty="0"/>
            </a:br>
            <a:r>
              <a:rPr lang="en-US" dirty="0"/>
              <a:t>Random Forest Classifier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2819400"/>
            <a:ext cx="457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Other algorithms:</a:t>
            </a:r>
          </a:p>
          <a:p>
            <a:endParaRPr lang="en-US" dirty="0" smtClean="0"/>
          </a:p>
          <a:p>
            <a:r>
              <a:rPr lang="en-US" dirty="0" smtClean="0"/>
              <a:t>    Logistic Regression </a:t>
            </a:r>
          </a:p>
          <a:p>
            <a:r>
              <a:rPr lang="en-US" dirty="0" smtClean="0"/>
              <a:t>    Decision Tree </a:t>
            </a:r>
          </a:p>
          <a:p>
            <a:r>
              <a:rPr lang="en-US" dirty="0" smtClean="0"/>
              <a:t>    Support Vector Machine (SVM) </a:t>
            </a:r>
          </a:p>
          <a:p>
            <a:r>
              <a:rPr lang="en-US" dirty="0" smtClean="0"/>
              <a:t>    K-Nearest Neighbors (KNN) 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XGBoost</a:t>
            </a:r>
            <a:endParaRPr lang="en-US" dirty="0" smtClean="0"/>
          </a:p>
          <a:p>
            <a:r>
              <a:rPr lang="en-US" dirty="0" smtClean="0"/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54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81200"/>
            <a:ext cx="5181600" cy="6096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dirty="0"/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976" y="2971800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trained model predicts whether the patient has lung cancer.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56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371600"/>
            <a:ext cx="4495800" cy="16002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122" y="3352800"/>
            <a:ext cx="464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Evaluation Metrics</a:t>
            </a:r>
          </a:p>
          <a:p>
            <a:endParaRPr lang="en-US" b="1" dirty="0" smtClean="0"/>
          </a:p>
          <a:p>
            <a:r>
              <a:rPr lang="en-US" dirty="0" smtClean="0"/>
              <a:t>    Accuracy </a:t>
            </a:r>
          </a:p>
          <a:p>
            <a:r>
              <a:rPr lang="en-US" dirty="0" smtClean="0"/>
              <a:t>    Precision </a:t>
            </a:r>
          </a:p>
          <a:p>
            <a:r>
              <a:rPr lang="en-US" dirty="0" smtClean="0"/>
              <a:t>    Recall </a:t>
            </a:r>
          </a:p>
          <a:p>
            <a:r>
              <a:rPr lang="en-US" dirty="0" smtClean="0"/>
              <a:t>    F1 Score </a:t>
            </a:r>
          </a:p>
          <a:p>
            <a:r>
              <a:rPr lang="en-US" dirty="0" smtClean="0"/>
              <a:t>    Confusion Matrix 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36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6781800" cy="232867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Accuracy = 96%</a:t>
            </a:r>
          </a:p>
          <a:p>
            <a:endParaRPr lang="en-US" dirty="0"/>
          </a:p>
          <a:p>
            <a:r>
              <a:rPr lang="en-US" dirty="0"/>
              <a:t>Precision = 95%</a:t>
            </a:r>
          </a:p>
          <a:p>
            <a:endParaRPr lang="en-US" dirty="0"/>
          </a:p>
          <a:p>
            <a:r>
              <a:rPr lang="en-US" dirty="0"/>
              <a:t>Recall = 97%</a:t>
            </a:r>
          </a:p>
          <a:p>
            <a:endParaRPr lang="en-US" dirty="0"/>
          </a:p>
          <a:p>
            <a:r>
              <a:rPr lang="en-US" dirty="0"/>
              <a:t>F1 Score = 96%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03860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Actual values depend on the dataset used.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77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diagnosis </a:t>
            </a:r>
            <a:endParaRPr lang="en-US" dirty="0" smtClean="0"/>
          </a:p>
          <a:p>
            <a:r>
              <a:rPr lang="en-US" dirty="0" smtClean="0"/>
              <a:t>Faster </a:t>
            </a:r>
            <a:r>
              <a:rPr lang="en-US" dirty="0"/>
              <a:t>decision making </a:t>
            </a:r>
            <a:endParaRPr lang="en-US" dirty="0" smtClean="0"/>
          </a:p>
          <a:p>
            <a:r>
              <a:rPr lang="en-US" dirty="0" smtClean="0"/>
              <a:t>Reduces </a:t>
            </a:r>
            <a:r>
              <a:rPr lang="en-US" dirty="0"/>
              <a:t>human error </a:t>
            </a:r>
            <a:endParaRPr lang="en-US" dirty="0" smtClean="0"/>
          </a:p>
          <a:p>
            <a:r>
              <a:rPr lang="en-US" dirty="0" smtClean="0"/>
              <a:t>Cost-effective </a:t>
            </a:r>
          </a:p>
          <a:p>
            <a:r>
              <a:rPr lang="en-US" dirty="0" smtClean="0"/>
              <a:t>Supports </a:t>
            </a:r>
            <a:r>
              <a:rPr lang="en-US" dirty="0"/>
              <a:t>doctors in diagnosis </a:t>
            </a:r>
            <a:endParaRPr lang="en-US" dirty="0" smtClean="0"/>
          </a:p>
          <a:p>
            <a:r>
              <a:rPr lang="en-US" dirty="0" smtClean="0"/>
              <a:t>High </a:t>
            </a:r>
            <a:r>
              <a:rPr lang="en-US" dirty="0"/>
              <a:t>prediction accuracy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380770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quality data </a:t>
            </a:r>
          </a:p>
          <a:p>
            <a:r>
              <a:rPr lang="en-US" dirty="0"/>
              <a:t>Prediction depends on dataset size </a:t>
            </a:r>
          </a:p>
          <a:p>
            <a:r>
              <a:rPr lang="en-US" dirty="0"/>
              <a:t>Cannot replace medical professionals </a:t>
            </a:r>
          </a:p>
          <a:p>
            <a:r>
              <a:rPr lang="en-US" dirty="0"/>
              <a:t>Risk of </a:t>
            </a:r>
            <a:r>
              <a:rPr lang="en-US" dirty="0" err="1"/>
              <a:t>overfitting</a:t>
            </a:r>
            <a:r>
              <a:rPr lang="en-US" dirty="0"/>
              <a:t> with small datasets </a:t>
            </a:r>
          </a:p>
          <a:p>
            <a:r>
              <a:rPr lang="en-US" dirty="0"/>
              <a:t>Privacy and ethical concerns 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144955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Deep Learning using CNNs for CT scan analysis. </a:t>
            </a:r>
          </a:p>
          <a:p>
            <a:r>
              <a:rPr lang="en-US" sz="2400" dirty="0" smtClean="0"/>
              <a:t>Integration </a:t>
            </a:r>
            <a:r>
              <a:rPr lang="en-US" sz="2400" dirty="0"/>
              <a:t>with </a:t>
            </a:r>
            <a:r>
              <a:rPr lang="en-US" sz="2400" dirty="0" err="1"/>
              <a:t>IoT</a:t>
            </a:r>
            <a:r>
              <a:rPr lang="en-US" sz="2400" dirty="0"/>
              <a:t> healthcare devices. </a:t>
            </a:r>
            <a:endParaRPr lang="en-US" sz="2400" dirty="0" smtClean="0"/>
          </a:p>
          <a:p>
            <a:r>
              <a:rPr lang="en-US" sz="2400" dirty="0" smtClean="0"/>
              <a:t>Cloud-based </a:t>
            </a:r>
            <a:r>
              <a:rPr lang="en-US" sz="2400" dirty="0"/>
              <a:t>diagnostic systems. </a:t>
            </a:r>
            <a:endParaRPr lang="en-US" sz="2400" dirty="0" smtClean="0"/>
          </a:p>
          <a:p>
            <a:r>
              <a:rPr lang="en-US" sz="2400" dirty="0" smtClean="0"/>
              <a:t>Explainable </a:t>
            </a:r>
            <a:r>
              <a:rPr lang="en-US" sz="2400" dirty="0"/>
              <a:t>AI (XAI) for transparent predictions. </a:t>
            </a:r>
          </a:p>
          <a:p>
            <a:r>
              <a:rPr lang="en-US" sz="2400" dirty="0" smtClean="0"/>
              <a:t>Real-time </a:t>
            </a:r>
            <a:r>
              <a:rPr lang="en-US" sz="2400" dirty="0"/>
              <a:t>hospital decision support systems.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160352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Machine Learning can significantly assist in the early detection of lung cancer. </a:t>
            </a:r>
          </a:p>
          <a:p>
            <a:r>
              <a:rPr lang="en-US" sz="2400" dirty="0"/>
              <a:t>Python provides powerful libraries for implementing ML models efficiently. </a:t>
            </a:r>
          </a:p>
          <a:p>
            <a:r>
              <a:rPr lang="en-US" sz="2400" dirty="0"/>
              <a:t>Random Forest and other supervised learning algorithms can achieve high accuracy when trained on quality datasets. </a:t>
            </a:r>
          </a:p>
          <a:p>
            <a:r>
              <a:rPr lang="en-US" sz="2400" dirty="0"/>
              <a:t>ML should be used as a decision-support tool alongside clinical expertise.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6670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Python Documentation – </a:t>
            </a:r>
            <a:r>
              <a:rPr lang="en-US" sz="2000" dirty="0">
                <a:hlinkClick r:id="rId2"/>
              </a:rPr>
              <a:t>https://www.python.org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err="1" smtClean="0"/>
              <a:t>Scikit</a:t>
            </a:r>
            <a:r>
              <a:rPr lang="en-US" sz="2000" dirty="0" smtClean="0"/>
              <a:t>-learn </a:t>
            </a:r>
            <a:r>
              <a:rPr lang="en-US" sz="2000" dirty="0"/>
              <a:t>Documentation – </a:t>
            </a:r>
            <a:r>
              <a:rPr lang="en-US" sz="2000" dirty="0">
                <a:hlinkClick r:id="rId3"/>
              </a:rPr>
              <a:t>https://scikit-learn.org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err="1" smtClean="0"/>
              <a:t>Kaggle</a:t>
            </a:r>
            <a:r>
              <a:rPr lang="en-US" sz="2000" dirty="0" smtClean="0"/>
              <a:t> </a:t>
            </a:r>
            <a:r>
              <a:rPr lang="en-US" sz="2000" dirty="0"/>
              <a:t>Lung Cancer Datasets – </a:t>
            </a:r>
            <a:r>
              <a:rPr lang="en-US" sz="2000" dirty="0">
                <a:hlinkClick r:id="rId4"/>
              </a:rPr>
              <a:t>https://www.kaggle.com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smtClean="0"/>
              <a:t>UCI </a:t>
            </a:r>
            <a:r>
              <a:rPr lang="en-US" sz="2000" dirty="0"/>
              <a:t>Machine Learning Repository – </a:t>
            </a:r>
            <a:r>
              <a:rPr lang="en-US" sz="2000" dirty="0">
                <a:hlinkClick r:id="rId5"/>
              </a:rPr>
              <a:t>https://archive.ics.uci.edu</a:t>
            </a:r>
            <a:r>
              <a:rPr lang="en-US" sz="2000" dirty="0"/>
              <a:t> </a:t>
            </a:r>
            <a:endParaRPr lang="en-US" sz="2000" dirty="0" smtClean="0"/>
          </a:p>
          <a:p>
            <a:r>
              <a:rPr lang="en-US" sz="2000" dirty="0" smtClean="0"/>
              <a:t>World </a:t>
            </a:r>
            <a:r>
              <a:rPr lang="en-US" sz="2000" dirty="0"/>
              <a:t>Health Organization (WHO) – </a:t>
            </a:r>
            <a:r>
              <a:rPr lang="en-US" sz="2000" dirty="0">
                <a:hlinkClick r:id="rId6"/>
              </a:rPr>
              <a:t>https://www.who.int</a:t>
            </a: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6578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324600"/>
            <a:ext cx="533400" cy="106681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133600"/>
            <a:ext cx="8229600" cy="1676400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1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57</TotalTime>
  <Words>463</Words>
  <Application>Microsoft Office PowerPoint</Application>
  <PresentationFormat>On-screen Show (4:3)</PresentationFormat>
  <Paragraphs>109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Lung Cancer Detection Using Machine Learning</vt:lpstr>
      <vt:lpstr>Introduction</vt:lpstr>
      <vt:lpstr>Objectives</vt:lpstr>
      <vt:lpstr>What is Machine Learning?</vt:lpstr>
      <vt:lpstr>Dataset</vt:lpstr>
      <vt:lpstr>Machine Learning Workflow</vt:lpstr>
      <vt:lpstr>Python Libraries</vt:lpstr>
      <vt:lpstr>Data Preprocessing</vt:lpstr>
      <vt:lpstr>Splitting the Dataset</vt:lpstr>
      <vt:lpstr>Model Training Random Forest Classifier </vt:lpstr>
      <vt:lpstr>Prediction</vt:lpstr>
      <vt:lpstr>Model Evaluation</vt:lpstr>
      <vt:lpstr>Expected Output</vt:lpstr>
      <vt:lpstr>Advantages</vt:lpstr>
      <vt:lpstr>Limitations</vt:lpstr>
      <vt:lpstr>Future Scope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Cancer Detection Using Machine Learning</dc:title>
  <dc:creator>this pc</dc:creator>
  <cp:lastModifiedBy>this pc</cp:lastModifiedBy>
  <cp:revision>9</cp:revision>
  <dcterms:created xsi:type="dcterms:W3CDTF">2026-07-20T03:17:29Z</dcterms:created>
  <dcterms:modified xsi:type="dcterms:W3CDTF">2026-07-20T05:03:52Z</dcterms:modified>
</cp:coreProperties>
</file>